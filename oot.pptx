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6" r:id="rId5"/>
    <p:sldId id="258" r:id="rId6"/>
    <p:sldId id="269" r:id="rId7"/>
    <p:sldId id="272" r:id="rId8"/>
    <p:sldId id="265" r:id="rId9"/>
    <p:sldId id="275" r:id="rId10"/>
    <p:sldId id="279" r:id="rId11"/>
    <p:sldId id="270" r:id="rId12"/>
    <p:sldId id="280" r:id="rId13"/>
    <p:sldId id="308" r:id="rId14"/>
    <p:sldId id="264" r:id="rId15"/>
    <p:sldId id="278" r:id="rId16"/>
    <p:sldId id="261" r:id="rId17"/>
    <p:sldId id="309" r:id="rId18"/>
    <p:sldId id="285" r:id="rId19"/>
    <p:sldId id="283" r:id="rId20"/>
    <p:sldId id="284" r:id="rId21"/>
    <p:sldId id="287" r:id="rId22"/>
    <p:sldId id="296" r:id="rId23"/>
    <p:sldId id="294" r:id="rId24"/>
    <p:sldId id="305" r:id="rId25"/>
    <p:sldId id="297" r:id="rId26"/>
    <p:sldId id="298" r:id="rId27"/>
    <p:sldId id="306" r:id="rId28"/>
    <p:sldId id="307" r:id="rId29"/>
    <p:sldId id="266" r:id="rId30"/>
    <p:sldId id="310" r:id="rId31"/>
    <p:sldId id="27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987" autoAdjust="0"/>
    <p:restoredTop sz="90704" autoAdjust="0"/>
  </p:normalViewPr>
  <p:slideViewPr>
    <p:cSldViewPr snapToGrid="0">
      <p:cViewPr varScale="1">
        <p:scale>
          <a:sx n="85" d="100"/>
          <a:sy n="85" d="100"/>
        </p:scale>
        <p:origin x="101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8/7/2023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8/7/2023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924175"/>
            <a:ext cx="2895600" cy="25193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1EBF9-6826-475B-8079-C1112899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219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726A3-DF54-47D2-8C3A-34FD43A1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3800" y="6356350"/>
            <a:ext cx="3479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125A-4493-4967-9146-841D0EF3B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A1CF8B-3479-49A3-A30E-2F2ECE962075}"/>
              </a:ext>
            </a:extLst>
          </p:cNvPr>
          <p:cNvGrpSpPr/>
          <p:nvPr userDrawn="1"/>
        </p:nvGrpSpPr>
        <p:grpSpPr>
          <a:xfrm>
            <a:off x="6953250" y="-25401"/>
            <a:ext cx="5238750" cy="6902451"/>
            <a:chOff x="6953250" y="-25401"/>
            <a:chExt cx="5238750" cy="690245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FBD260-5143-4B12-B9F8-33E48D548909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/>
            <p:nvPr userDrawn="1"/>
          </p:nvCxnSpPr>
          <p:spPr>
            <a:xfrm flipH="1">
              <a:off x="6953250" y="-25401"/>
              <a:ext cx="3790950" cy="69024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148840"/>
            <a:ext cx="4179570" cy="171553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1350" y="3962003"/>
            <a:ext cx="4179570" cy="3651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1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111608"/>
            <a:ext cx="10515600" cy="3744912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77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7449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7724" y="2809875"/>
            <a:ext cx="6696075" cy="1909763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4828DA-5EC5-4A00-9A7B-CD9668EF2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</p:spPr>
        <p:txBody>
          <a:bodyPr anchor="b">
            <a:normAutofit/>
          </a:bodyPr>
          <a:lstStyle>
            <a:lvl1pPr marL="0" indent="0" algn="l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03E9A-96BC-4283-A6E1-5948AEB1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76774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9C49-052B-4D3E-B227-1D787463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3699" y="6356350"/>
            <a:ext cx="25431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E724A-95F0-41B6-A77E-EDD0672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8350" y="6356350"/>
            <a:ext cx="169545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65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28568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578300" y="5084524"/>
            <a:ext cx="233081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068964" y="5084524"/>
            <a:ext cx="2317707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488845" y="5084524"/>
            <a:ext cx="231770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C911F2-9041-416A-B83C-F23B354E0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34250" y="0"/>
            <a:ext cx="4857750" cy="1724025"/>
            <a:chOff x="7334250" y="0"/>
            <a:chExt cx="4857750" cy="172402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E4B72DA-52CB-4D39-A342-8857B4D959B2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D9BCDA-DFB7-41A4-A7C7-CEE86CEDCB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1227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87AAB93-862D-455E-9E73-3D0DAEFD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473953"/>
            <a:ext cx="12192000" cy="5621336"/>
            <a:chOff x="0" y="473953"/>
            <a:chExt cx="12192000" cy="5621336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0DFD584-E5CF-41EF-B51E-679CE22DDF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73953"/>
              <a:ext cx="2057400" cy="164782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C02DDF-25A6-42C7-9525-F279CE2095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49000" y="5180889"/>
              <a:ext cx="1143000" cy="91440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500168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49262" y="3809747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38DB4D-239F-4E8E-8802-0470B013118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558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355" y="3654378"/>
            <a:ext cx="2105135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095999" y="3809747"/>
            <a:ext cx="22998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4480" y="3809747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00168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849262" y="5668583"/>
            <a:ext cx="18288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E029C5CA-EDDA-4BF9-9051-8B09E98EE1E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65558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339926" y="5668583"/>
            <a:ext cx="181347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9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744480" y="5668583"/>
            <a:ext cx="1844126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120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786F69D-D4FA-4075-A7EC-8D31A184F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6988B2D-0240-4256-8268-4B9FF1E7236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8EEAAE1-3D04-41C3-B2D2-B3BEF34C3B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11375"/>
            <a:ext cx="10515600" cy="3744913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1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074" y="150777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2131" y="2584097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38556" y="3660422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2756" y="4736748"/>
            <a:ext cx="2141764" cy="514350"/>
          </a:xfrm>
        </p:spPr>
        <p:txBody>
          <a:bodyPr anchor="ctr"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6" y="1613528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9" y="268256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8" y="3755394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80" y="4824430"/>
            <a:ext cx="5102680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9143" y="6356350"/>
            <a:ext cx="377598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59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2368EF4-1233-48C7-8DB5-75844BFC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238376" cy="3105150"/>
            <a:chOff x="0" y="0"/>
            <a:chExt cx="2238376" cy="310515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63D7850-C2A6-43CE-BBE4-8E81A0A593B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BAD3E03-2E3B-440C-9105-6F9D33006D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8896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4AA03A-263D-4B5F-B05B-7D6923A9A4D3}"/>
              </a:ext>
            </a:extLst>
          </p:cNvPr>
          <p:cNvGrpSpPr/>
          <p:nvPr userDrawn="1"/>
        </p:nvGrpSpPr>
        <p:grpSpPr>
          <a:xfrm>
            <a:off x="0" y="0"/>
            <a:ext cx="4762501" cy="5186363"/>
            <a:chOff x="0" y="0"/>
            <a:chExt cx="4762501" cy="5186363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7F08D6-2CA7-4A5A-BE34-07113DCA535D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768C87F-B9C3-4DFF-8454-F3F52CE4346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1371997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66" r:id="rId5"/>
    <p:sldLayoutId id="2147483667" r:id="rId6"/>
    <p:sldLayoutId id="2147483654" r:id="rId7"/>
    <p:sldLayoutId id="2147483663" r:id="rId8"/>
    <p:sldLayoutId id="2147483662" r:id="rId9"/>
    <p:sldLayoutId id="2147483668" r:id="rId10"/>
    <p:sldLayoutId id="2147483652" r:id="rId11"/>
    <p:sldLayoutId id="2147483653" r:id="rId12"/>
    <p:sldLayoutId id="2147483660" r:id="rId13"/>
    <p:sldLayoutId id="2147483664" r:id="rId14"/>
    <p:sldLayoutId id="214748366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mvd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mvd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oatransport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.tutorialspoint.com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080" y="921115"/>
            <a:ext cx="8653181" cy="1335208"/>
          </a:xfrm>
        </p:spPr>
        <p:txBody>
          <a:bodyPr/>
          <a:lstStyle/>
          <a:p>
            <a:pPr algn="r"/>
            <a:r>
              <a:rPr lang="en-US" sz="3800">
                <a:latin typeface="Tenorite"/>
                <a:ea typeface="Calibri"/>
                <a:cs typeface="Calibri"/>
              </a:rPr>
              <a:t>DIGITAL VERIFICATION OF VEHICLES</a:t>
            </a:r>
            <a:endParaRPr lang="en-US" sz="3800" b="1">
              <a:latin typeface="Trebuchet MS"/>
              <a:ea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6A1B4-B8D1-4A72-8E20-0703F54BF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86" y="4676937"/>
            <a:ext cx="2882475" cy="187813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SUBMITTED TO,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 err="1"/>
              <a:t>Mrs.MINNU</a:t>
            </a:r>
            <a:r>
              <a:rPr lang="en-US" sz="1400" b="1" dirty="0"/>
              <a:t> ELIZABETH ITTAN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ASSISTANT PROFESSOR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b="1" dirty="0"/>
              <a:t>PROJECT GUIDE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24E28-4F03-4D48-8810-F8E031940DE0}"/>
              </a:ext>
            </a:extLst>
          </p:cNvPr>
          <p:cNvSpPr txBox="1"/>
          <p:nvPr/>
        </p:nvSpPr>
        <p:spPr>
          <a:xfrm>
            <a:off x="8005009" y="4474360"/>
            <a:ext cx="3561348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400" b="1" dirty="0">
                <a:latin typeface="+mj-lt"/>
              </a:rPr>
              <a:t>SUBMITTED BY, GROUP 1</a:t>
            </a:r>
          </a:p>
          <a:p>
            <a:pPr algn="r"/>
            <a:endParaRPr lang="en-US" sz="1400" b="1" dirty="0">
              <a:latin typeface="+mj-lt"/>
            </a:endParaRPr>
          </a:p>
          <a:p>
            <a:pPr algn="r"/>
            <a:r>
              <a:rPr lang="en-US" sz="1400" b="1" dirty="0">
                <a:latin typeface="+mj-lt"/>
              </a:rPr>
              <a:t>AADHIL MUHAMMED (MBI20CS001)</a:t>
            </a:r>
          </a:p>
          <a:p>
            <a:pPr algn="r"/>
            <a:r>
              <a:rPr lang="en-US" sz="1400" b="1" dirty="0">
                <a:latin typeface="+mj-lt"/>
              </a:rPr>
              <a:t>ALAN SHA (MBI20CS006)</a:t>
            </a:r>
          </a:p>
          <a:p>
            <a:pPr algn="r"/>
            <a:r>
              <a:rPr lang="en-US" sz="1400" b="1" dirty="0">
                <a:latin typeface="+mj-lt"/>
              </a:rPr>
              <a:t>HELVIN PAULOSE (MBI20CS032)</a:t>
            </a:r>
          </a:p>
          <a:p>
            <a:pPr algn="r"/>
            <a:r>
              <a:rPr lang="en-US" sz="1400" b="1" dirty="0">
                <a:latin typeface="+mj-lt"/>
              </a:rPr>
              <a:t>SOJAN P RENNY (MBI20CS054)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3279B-AB02-40ED-9072-283750406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583D7244-C0A6-4E31-A48E-4AC0809BAF71}"/>
              </a:ext>
            </a:extLst>
          </p:cNvPr>
          <p:cNvSpPr txBox="1">
            <a:spLocks/>
          </p:cNvSpPr>
          <p:nvPr/>
        </p:nvSpPr>
        <p:spPr>
          <a:xfrm>
            <a:off x="5430520" y="6555067"/>
            <a:ext cx="1330960" cy="18224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Dept. of CSE, MBITS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BA3FD0C1-78F2-BA26-ECC2-527881DEF201}"/>
              </a:ext>
            </a:extLst>
          </p:cNvPr>
          <p:cNvSpPr txBox="1">
            <a:spLocks/>
          </p:cNvSpPr>
          <p:nvPr/>
        </p:nvSpPr>
        <p:spPr>
          <a:xfrm>
            <a:off x="11162003" y="6427606"/>
            <a:ext cx="333221" cy="61941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225" y="750886"/>
            <a:ext cx="5111750" cy="365125"/>
          </a:xfrm>
        </p:spPr>
        <p:txBody>
          <a:bodyPr>
            <a:noAutofit/>
          </a:bodyPr>
          <a:lstStyle/>
          <a:p>
            <a:r>
              <a:rPr lang="en-US" sz="3600" dirty="0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075" y="1308099"/>
            <a:ext cx="5959609" cy="4241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Abstract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Introduction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Work plan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Er-Diagram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Database Design</a:t>
            </a:r>
          </a:p>
          <a:p>
            <a:pPr marL="800100" lvl="1" indent="-342900">
              <a:buFont typeface="Arial" pitchFamily="34" charset="0"/>
              <a:buChar char="•"/>
              <a:tabLst>
                <a:tab pos="4392613" algn="l"/>
              </a:tabLst>
            </a:pPr>
            <a:r>
              <a:rPr lang="en-US" sz="2200" dirty="0">
                <a:solidFill>
                  <a:schemeClr val="tx1"/>
                </a:solidFill>
              </a:rPr>
              <a:t>Case Studies of existing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Proposed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Conclusion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References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CC619-077B-4EA3-87D8-343EFD4F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742E6-A58A-C722-4E7C-CD6E5EA9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3E6E59C-3ED0-AF46-E455-67236386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4332" y="6356350"/>
            <a:ext cx="3479800" cy="365125"/>
          </a:xfrm>
        </p:spPr>
        <p:txBody>
          <a:bodyPr/>
          <a:lstStyle/>
          <a:p>
            <a:r>
              <a:rPr lang="en-US" dirty="0"/>
              <a:t>Dept. of CSE, MBITS</a:t>
            </a:r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C0344EB-B96D-450D-B675-CB89E45AFC90}"/>
              </a:ext>
            </a:extLst>
          </p:cNvPr>
          <p:cNvSpPr txBox="1"/>
          <p:nvPr/>
        </p:nvSpPr>
        <p:spPr>
          <a:xfrm>
            <a:off x="990600" y="5011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ABSTRACT</a:t>
            </a:r>
            <a:endParaRPr lang="en-IN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30E75-571E-429A-9B05-BD34F9E04F0D}"/>
              </a:ext>
            </a:extLst>
          </p:cNvPr>
          <p:cNvSpPr txBox="1"/>
          <p:nvPr/>
        </p:nvSpPr>
        <p:spPr>
          <a:xfrm>
            <a:off x="533400" y="1396474"/>
            <a:ext cx="9337183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enorite" panose="00000500000000000000" pitchFamily="2" charset="0"/>
                <a:ea typeface="+mn-lt"/>
                <a:cs typeface="+mn-lt"/>
              </a:rPr>
              <a:t>Population growth leads to an increase in vehicles on the </a:t>
            </a:r>
            <a:r>
              <a:rPr lang="en-US" sz="2400" i="0" dirty="0" err="1">
                <a:effectLst/>
                <a:latin typeface="Tenorite" panose="00000500000000000000" pitchFamily="2" charset="0"/>
                <a:ea typeface="+mn-lt"/>
                <a:cs typeface="+mn-lt"/>
              </a:rPr>
              <a:t>road.Issues</a:t>
            </a:r>
            <a:r>
              <a:rPr lang="en-US" sz="2400" i="0" dirty="0">
                <a:effectLst/>
                <a:latin typeface="Tenorite" panose="00000500000000000000" pitchFamily="2" charset="0"/>
                <a:ea typeface="+mn-lt"/>
                <a:cs typeface="+mn-lt"/>
              </a:rPr>
              <a:t> related to vehicle registration, driving license verification, emission testing, and insurance validation.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i="0" dirty="0">
                <a:effectLst/>
                <a:latin typeface="Tenorite" panose="00000500000000000000" pitchFamily="2" charset="0"/>
                <a:ea typeface="+mn-lt"/>
                <a:cs typeface="+mn-lt"/>
              </a:rPr>
              <a:t>Verification of vehicle-related documents creates challenges for the RT department and </a:t>
            </a:r>
            <a:r>
              <a:rPr lang="en-US" sz="2400" i="0" dirty="0" err="1">
                <a:effectLst/>
                <a:latin typeface="Tenorite" panose="00000500000000000000" pitchFamily="2" charset="0"/>
                <a:ea typeface="+mn-lt"/>
                <a:cs typeface="+mn-lt"/>
              </a:rPr>
              <a:t>police.RT</a:t>
            </a:r>
            <a:r>
              <a:rPr lang="en-US" sz="2400" i="0" dirty="0">
                <a:effectLst/>
                <a:latin typeface="Tenorite" panose="00000500000000000000" pitchFamily="2" charset="0"/>
                <a:ea typeface="+mn-lt"/>
                <a:cs typeface="+mn-lt"/>
              </a:rPr>
              <a:t> department's workload includes manual and paper-based tasks like registration, licensing issues, ownership transfer.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enorite" panose="00000500000000000000" pitchFamily="2" charset="0"/>
                <a:ea typeface="+mn-lt"/>
                <a:cs typeface="+mn-lt"/>
              </a:rPr>
              <a:t>In our proposed website it Store all vehicle and driver-related documents digitally in a database maintained by the RT administrator.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enorite" panose="00000500000000000000" pitchFamily="2" charset="0"/>
                <a:ea typeface="+mn-lt"/>
                <a:cs typeface="+mn-lt"/>
              </a:rPr>
              <a:t>It can Verify documents and driver information using the vehicle registration number..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50D8991-8CF0-4859-AE51-3882DDB73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D2004-C7EB-29EA-DF2E-4A64FAB3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37457-4B14-FACB-B781-7EF3E2AD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82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225" y="611186"/>
            <a:ext cx="5111750" cy="365125"/>
          </a:xfrm>
        </p:spPr>
        <p:txBody>
          <a:bodyPr>
            <a:noAutofit/>
          </a:bodyPr>
          <a:lstStyle/>
          <a:p>
            <a:r>
              <a:rPr lang="en-US" sz="3600" dirty="0" err="1"/>
              <a:t>INtroduction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2277" y="1465358"/>
            <a:ext cx="7230318" cy="4231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/>
              <a:buChar char="§"/>
            </a:pPr>
            <a:r>
              <a:rPr lang="en-IN" sz="2000" dirty="0">
                <a:solidFill>
                  <a:srgbClr val="404040"/>
                </a:solidFill>
                <a:latin typeface="Tenorite"/>
                <a:cs typeface="Times New Roman"/>
              </a:rPr>
              <a:t>The Regional Transport Office (RTO) or Regional Transport Authority (RTA) is the organisation of the Indian government responsible for maintaining a database of drivers and a database of vehicles for various states of India. </a:t>
            </a:r>
            <a:endParaRPr lang="en-US" sz="2000" spc="0" dirty="0">
              <a:solidFill>
                <a:srgbClr val="404040"/>
              </a:solidFill>
              <a:latin typeface="Tenorite"/>
              <a:cs typeface="Times New Roman"/>
            </a:endParaRPr>
          </a:p>
          <a:p>
            <a:pPr marL="342900" indent="-342900">
              <a:buFont typeface="Wingdings"/>
              <a:buChar char="§"/>
            </a:pPr>
            <a:r>
              <a:rPr lang="en-IN" sz="2000" dirty="0">
                <a:solidFill>
                  <a:srgbClr val="404040"/>
                </a:solidFill>
                <a:latin typeface="Tenorite"/>
                <a:cs typeface="Times New Roman"/>
              </a:rPr>
              <a:t>The Objective of Digital Verification Of Vehicles is to provide </a:t>
            </a:r>
            <a:r>
              <a:rPr lang="en-IN" sz="2000" dirty="0" err="1">
                <a:solidFill>
                  <a:srgbClr val="404040"/>
                </a:solidFill>
                <a:latin typeface="Tenorite"/>
                <a:cs typeface="Times New Roman"/>
              </a:rPr>
              <a:t>a</a:t>
            </a:r>
            <a:r>
              <a:rPr lang="en-IN" sz="2000" dirty="0">
                <a:solidFill>
                  <a:srgbClr val="404040"/>
                </a:solidFill>
                <a:latin typeface="Tenorite"/>
                <a:cs typeface="Times New Roman"/>
              </a:rPr>
              <a:t> online tool for the ease of RTO functions such as vehicle registration, Learner license, permanent license, renewal of license, and many more. </a:t>
            </a:r>
            <a:endParaRPr lang="en-US" sz="2000" dirty="0">
              <a:solidFill>
                <a:srgbClr val="404040"/>
              </a:solidFill>
              <a:latin typeface="Tenorite"/>
              <a:cs typeface="Times New Roman"/>
            </a:endParaRPr>
          </a:p>
          <a:p>
            <a:pPr marL="800100" lvl="1" indent="-342900">
              <a:buFont typeface="Wingdings"/>
              <a:buChar char="§"/>
            </a:pPr>
            <a:endParaRPr lang="en-US" dirty="0">
              <a:solidFill>
                <a:srgbClr val="89898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8B6F4-AF75-494F-834B-9D1207984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F5E2E-9905-4138-F2EF-9AC5910D6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688330B-D60D-3652-2671-3383EECB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</p:spTree>
    <p:extLst>
      <p:ext uri="{BB962C8B-B14F-4D97-AF65-F5344CB8AC3E}">
        <p14:creationId xmlns:p14="http://schemas.microsoft.com/office/powerpoint/2010/main" val="14421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92183" cy="1354499"/>
          </a:xfrm>
        </p:spPr>
        <p:txBody>
          <a:bodyPr>
            <a:normAutofit/>
          </a:bodyPr>
          <a:lstStyle/>
          <a:p>
            <a:pPr algn="l"/>
            <a:r>
              <a:rPr lang="en-US"/>
              <a:t>CASE STUDY I</a:t>
            </a:r>
            <a:r>
              <a:rPr lang="en-US" sz="3600"/>
              <a:t> – </a:t>
            </a:r>
            <a:br>
              <a:rPr lang="en-US" sz="3600">
                <a:latin typeface="Tenorite"/>
                <a:cs typeface="Times New Roman"/>
              </a:rPr>
            </a:br>
            <a:r>
              <a:rPr lang="en-US" sz="2000" b="1">
                <a:latin typeface="Tenorite"/>
                <a:cs typeface="Times New Roman"/>
              </a:rPr>
              <a:t>                               Two wheeler registration process in Kerala</a:t>
            </a:r>
            <a:endParaRPr lang="en-US" sz="2000">
              <a:latin typeface="Tenorite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69B566E-86A6-F1C3-1E21-A327F00B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FB6CA-0B7D-5BA7-294C-F8A04B2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49586" y="2286000"/>
            <a:ext cx="7326312" cy="22860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KMVD means Kerala Motor Vehicle Department.</a:t>
            </a:r>
            <a:endParaRPr lang="en-US" sz="200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Is an online website for Kerala.</a:t>
            </a:r>
            <a:endParaRPr lang="en-US" sz="200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To develop road transport technology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  <a:endParaRPr lang="en-US" sz="2000" b="0" i="0">
              <a:solidFill>
                <a:srgbClr val="000000"/>
              </a:solidFill>
              <a:effectLst/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Website for registration purpose</a:t>
            </a:r>
            <a:r>
              <a:rPr lang="en-US" sz="2000" b="0" i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, </a:t>
            </a: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documentation purpose</a:t>
            </a:r>
            <a:r>
              <a:rPr lang="en-US" sz="2000" b="0" i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, </a:t>
            </a: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etc.</a:t>
            </a:r>
          </a:p>
          <a:p>
            <a:pPr algn="just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The KMVD has made ‘one person one application’ rule as mandatory across all the     RTOs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  <a:endParaRPr lang="en-US" sz="2000" dirty="0">
              <a:latin typeface="Tenorite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101C6-4484-4310-BD39-CEB670DC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491" y="360806"/>
            <a:ext cx="1106905" cy="11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7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413" y="2852545"/>
            <a:ext cx="5051717" cy="1153845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enorite"/>
                <a:ea typeface="Calibri"/>
                <a:cs typeface="Times New Roman"/>
              </a:rPr>
              <a:t> </a:t>
            </a:r>
            <a:r>
              <a:rPr lang="en-US" sz="1800" cap="none" dirty="0">
                <a:solidFill>
                  <a:srgbClr val="0000FF"/>
                </a:solidFill>
                <a:latin typeface="Tenorite"/>
                <a:ea typeface="Calibri"/>
                <a:cs typeface="Times New Roman"/>
                <a:hlinkClick r:id="rId2"/>
              </a:rPr>
              <a:t>https://www.mvd</a:t>
            </a:r>
            <a:r>
              <a:rPr lang="en-US" sz="1800" cap="none">
                <a:latin typeface="Tenorite"/>
                <a:ea typeface="Calibri"/>
                <a:cs typeface="Times New Roman"/>
              </a:rPr>
              <a:t>.kerala.gov. in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3C1F59-9EF8-47E1-9814-3C6F93477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96860-F308-0BC9-C0DE-E84B02394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0591422-FF86-3F00-37CE-B8A84B70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  <p:pic>
        <p:nvPicPr>
          <p:cNvPr id="3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370AFED0-CD19-43F0-0C9E-5CBEE7FDA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159" y="1006699"/>
            <a:ext cx="2829655" cy="48553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2ACA4F-50D4-1C4B-FA06-733FDF47BDD6}"/>
              </a:ext>
            </a:extLst>
          </p:cNvPr>
          <p:cNvSpPr txBox="1"/>
          <p:nvPr/>
        </p:nvSpPr>
        <p:spPr>
          <a:xfrm>
            <a:off x="848741" y="542292"/>
            <a:ext cx="472632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Tenorite"/>
                <a:cs typeface="Times New Roman"/>
              </a:rPr>
              <a:t>Website Page Figure</a:t>
            </a:r>
            <a:endParaRPr lang="en-US" sz="2400" dirty="0"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98415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C36D-5EA4-F589-FF2D-29E183C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14" y="487755"/>
            <a:ext cx="3341462" cy="428526"/>
          </a:xfrm>
        </p:spPr>
        <p:txBody>
          <a:bodyPr>
            <a:noAutofit/>
          </a:bodyPr>
          <a:lstStyle/>
          <a:p>
            <a:r>
              <a:rPr lang="en-US" sz="2000" b="1" cap="none">
                <a:latin typeface="Tenorite"/>
                <a:cs typeface="Times New Roman"/>
              </a:rPr>
              <a:t>Website Login Figure</a:t>
            </a:r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EAA616A-B10B-E80B-4558-2F94A67C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7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E841E88-0363-FB56-9E9A-B36CD3C5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C5C51-8F8A-AB60-7E4F-73B64AF5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277054"/>
            <a:ext cx="1106905" cy="1151693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801FA92-DFC4-DF25-7342-A0335BC5B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122" y="915988"/>
            <a:ext cx="5251048" cy="5267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FA18A9-B164-840A-C3AA-376859CA5BB8}"/>
              </a:ext>
            </a:extLst>
          </p:cNvPr>
          <p:cNvSpPr txBox="1"/>
          <p:nvPr/>
        </p:nvSpPr>
        <p:spPr>
          <a:xfrm>
            <a:off x="756668" y="3423668"/>
            <a:ext cx="35447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enorite"/>
                <a:cs typeface="Times New Roman"/>
              </a:rPr>
              <a:t> </a:t>
            </a:r>
            <a:r>
              <a:rPr lang="en-US" b="1" i="1" dirty="0">
                <a:solidFill>
                  <a:srgbClr val="0000FF"/>
                </a:solidFill>
                <a:latin typeface="Tenorite"/>
                <a:cs typeface="Times New Roman"/>
                <a:hlinkClick r:id="rId4"/>
              </a:rPr>
              <a:t>https://www.mvd</a:t>
            </a:r>
            <a:r>
              <a:rPr lang="en-US" b="1" i="1" dirty="0">
                <a:latin typeface="Tenorite"/>
                <a:cs typeface="Times New Roman"/>
              </a:rPr>
              <a:t>.kerala.gov.in</a:t>
            </a:r>
            <a:endParaRPr lang="en-US"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338529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535781"/>
            <a:ext cx="34931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Advantages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1A38E-9839-40A0-9018-30D858C8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815003-ACA1-56B1-DFEB-945A15A66E16}"/>
              </a:ext>
            </a:extLst>
          </p:cNvPr>
          <p:cNvSpPr txBox="1"/>
          <p:nvPr/>
        </p:nvSpPr>
        <p:spPr>
          <a:xfrm>
            <a:off x="915341" y="1796993"/>
            <a:ext cx="8842054" cy="29238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Registering new bike or Scooter in Kerala.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Documents for renewing RC.</a:t>
            </a:r>
          </a:p>
          <a:p>
            <a:pPr marL="285750" indent="-285750" algn="l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Easy to handle.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To serve the customer’s instead of them running to different counters for different services.</a:t>
            </a:r>
            <a:endParaRPr lang="en-US" sz="2000" dirty="0">
              <a:solidFill>
                <a:schemeClr val="tx1"/>
              </a:solidFill>
              <a:latin typeface="Tenorite"/>
              <a:cs typeface="Times New Roman"/>
            </a:endParaRP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It provides  different insurance.</a:t>
            </a:r>
            <a:endParaRPr lang="en-US" sz="2400" dirty="0">
              <a:latin typeface="Tenorit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algn="l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6404-0750-4650-E525-FD025FF8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8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3D5A33-CB21-58C9-DE63-1F8606B0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</p:spTree>
    <p:extLst>
      <p:ext uri="{BB962C8B-B14F-4D97-AF65-F5344CB8AC3E}">
        <p14:creationId xmlns:p14="http://schemas.microsoft.com/office/powerpoint/2010/main" val="2896385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535781"/>
            <a:ext cx="4031146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Disadvantages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1A38E-9839-40A0-9018-30D858C8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815003-ACA1-56B1-DFEB-945A15A66E16}"/>
              </a:ext>
            </a:extLst>
          </p:cNvPr>
          <p:cNvSpPr txBox="1"/>
          <p:nvPr/>
        </p:nvSpPr>
        <p:spPr>
          <a:xfrm>
            <a:off x="904609" y="1850655"/>
            <a:ext cx="7242928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>
                <a:latin typeface="Tenorite"/>
                <a:cs typeface="Times New Roman"/>
              </a:rPr>
              <a:t>There is no facility for four wheeler’s vehicle.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No details about pollution certificate and fitness certificate.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It doesn’t have tracking system.</a:t>
            </a:r>
            <a:endParaRPr lang="en-US" sz="2000" dirty="0">
              <a:latin typeface="Tenorit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554E8-98A9-51D0-C2BB-47C14FAB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E97EA-3E12-902C-DD0E-BF6C9BB2F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</p:spTree>
    <p:extLst>
      <p:ext uri="{BB962C8B-B14F-4D97-AF65-F5344CB8AC3E}">
        <p14:creationId xmlns:p14="http://schemas.microsoft.com/office/powerpoint/2010/main" val="197949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92183" cy="13544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CASE STUDY </a:t>
            </a:r>
            <a:r>
              <a:rPr lang="en-US"/>
              <a:t>II</a:t>
            </a:r>
            <a:r>
              <a:rPr lang="en-US" sz="3600" dirty="0"/>
              <a:t>– </a:t>
            </a:r>
            <a:br>
              <a:rPr lang="en-US" sz="3600" dirty="0">
                <a:latin typeface="Tenorite"/>
                <a:cs typeface="Times New Roman"/>
              </a:rPr>
            </a:br>
            <a:r>
              <a:rPr lang="en-US" sz="2000" b="1">
                <a:latin typeface="Tenorite"/>
                <a:cs typeface="Times New Roman"/>
              </a:rPr>
              <a:t>                               Transport system of Karnataka</a:t>
            </a:r>
            <a:endParaRPr lang="en-US" sz="2000">
              <a:latin typeface="Tenorite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69B566E-86A6-F1C3-1E21-A327F00B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FB6CA-0B7D-5BA7-294C-F8A04B2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49586" y="2286000"/>
            <a:ext cx="7326312" cy="22860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A website for state Karnataka.</a:t>
            </a:r>
            <a:endParaRPr lang="en-US" sz="2000">
              <a:solidFill>
                <a:srgbClr val="000000"/>
              </a:solidFill>
              <a:latin typeface="Tenorite"/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Used to check vehicle validation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Check PUC. 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For tracking purpose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  <a:endParaRPr lang="en-US" sz="2000" dirty="0">
              <a:latin typeface="Tenorit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101C6-4484-4310-BD39-CEB670DC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491" y="360806"/>
            <a:ext cx="1106905" cy="11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98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33" y="555811"/>
            <a:ext cx="3334535" cy="42404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cap="none"/>
              <a:t>Figure Of Login Process</a:t>
            </a:r>
            <a:endParaRPr lang="en-US" sz="2000" b="1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9F49366-6250-420C-9FC5-82BC644B0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277054"/>
            <a:ext cx="1106905" cy="11516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1778-D797-28F8-AAD5-481F3175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4C8E5A-87E0-82E8-F52C-C8F5EEC0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  <p:pic>
        <p:nvPicPr>
          <p:cNvPr id="3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9A8089D-3033-4A45-88A2-42E3AA81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865" y="922994"/>
            <a:ext cx="5007735" cy="50012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F803CF-9BD1-F6B2-6664-F122AEAEFC0B}"/>
              </a:ext>
            </a:extLst>
          </p:cNvPr>
          <p:cNvSpPr txBox="1"/>
          <p:nvPr/>
        </p:nvSpPr>
        <p:spPr>
          <a:xfrm>
            <a:off x="448078" y="3268014"/>
            <a:ext cx="54923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latin typeface="Tenorite"/>
                <a:cs typeface="Times New Roman"/>
              </a:rPr>
              <a:t>http://etc.karanataka.gov.in/ValidationRegno.aspx</a:t>
            </a:r>
            <a:endParaRPr lang="en-US"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2619301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535781"/>
            <a:ext cx="34931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Advantages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E99AA-C201-2CCE-5E0A-BE198C5AE58D}"/>
              </a:ext>
            </a:extLst>
          </p:cNvPr>
          <p:cNvSpPr txBox="1"/>
          <p:nvPr/>
        </p:nvSpPr>
        <p:spPr>
          <a:xfrm>
            <a:off x="1100303" y="1996646"/>
            <a:ext cx="6094562" cy="11387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Gives the details about PUC records of vehicles. 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This also help to check the validity.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Provides tracking system.</a:t>
            </a:r>
            <a:endParaRPr lang="en-US" sz="2000" dirty="0"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1867824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0637-CCAA-425E-A57A-6205AFDC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Disadvantage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44BFC9-2C26-F730-B6E3-1A1A5641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42449-B17D-9773-F86C-7FEF7FFF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13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AAC370-E25E-420F-BE26-52BC246B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68104E-EABA-3DDF-2DA2-C69A371F24A0}"/>
              </a:ext>
            </a:extLst>
          </p:cNvPr>
          <p:cNvSpPr txBox="1"/>
          <p:nvPr/>
        </p:nvSpPr>
        <p:spPr>
          <a:xfrm>
            <a:off x="1241746" y="1866203"/>
            <a:ext cx="8659604" cy="14465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This has no information on other details about the vehicles.</a:t>
            </a:r>
            <a:endParaRPr lang="en-US" sz="2000" dirty="0">
              <a:solidFill>
                <a:schemeClr val="tx1"/>
              </a:solidFill>
              <a:latin typeface="Tenorite"/>
              <a:cs typeface="Times New Roman"/>
            </a:endParaRP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Even though it checks the validation of the PUC certificate it doesn’t give any remainder to the user.</a:t>
            </a:r>
            <a:endParaRPr lang="en-US" sz="2000" dirty="0">
              <a:solidFill>
                <a:schemeClr val="tx1"/>
              </a:solidFill>
              <a:latin typeface="Tenorite"/>
              <a:cs typeface="Times New Roman"/>
            </a:endParaRP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Has no any platform for feedback</a:t>
            </a:r>
            <a:r>
              <a:rPr lang="en-US" dirty="0">
                <a:latin typeface="Times New Roman"/>
                <a:cs typeface="Times New Roman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429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617" y="413353"/>
            <a:ext cx="9358133" cy="1354499"/>
          </a:xfrm>
        </p:spPr>
        <p:txBody>
          <a:bodyPr>
            <a:normAutofit/>
          </a:bodyPr>
          <a:lstStyle/>
          <a:p>
            <a:pPr algn="l"/>
            <a:r>
              <a:rPr lang="en-US"/>
              <a:t>CASE STUDY </a:t>
            </a:r>
            <a:r>
              <a:rPr lang="en-US" err="1"/>
              <a:t>IIi</a:t>
            </a:r>
            <a:r>
              <a:rPr lang="en-US" sz="3600"/>
              <a:t>– </a:t>
            </a:r>
            <a:br>
              <a:rPr lang="en-US" sz="3600" dirty="0">
                <a:latin typeface="Tenorite"/>
                <a:cs typeface="Times New Roman"/>
              </a:rPr>
            </a:br>
            <a:r>
              <a:rPr lang="en-US" sz="2000" b="1">
                <a:latin typeface="Tenorite"/>
                <a:cs typeface="Times New Roman"/>
              </a:rPr>
              <a:t>                               Department of Transport, Goa</a:t>
            </a:r>
            <a:endParaRPr lang="en-US" sz="2000">
              <a:latin typeface="Tenorite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69B566E-86A6-F1C3-1E21-A327F00B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FB6CA-0B7D-5BA7-294C-F8A04B2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67890" y="2372810"/>
            <a:ext cx="8126894" cy="255607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 Transport website in Goa.</a:t>
            </a:r>
            <a:endParaRPr lang="en-US" sz="2000" dirty="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 Enforcement of the motor vehicle act and rules.</a:t>
            </a:r>
            <a:endParaRPr lang="en-US" sz="2000" dirty="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 Collection of taxes and fees.</a:t>
            </a:r>
            <a:endParaRPr lang="en-US" sz="2000" dirty="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Provides rendering services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Tenorite"/>
                <a:cs typeface="Times New Roman"/>
              </a:rPr>
              <a:t> Controls automobile pollutions and gives road safety measures.</a:t>
            </a:r>
            <a:endParaRPr lang="en-US" sz="2000" dirty="0">
              <a:solidFill>
                <a:srgbClr val="000000"/>
              </a:solidFill>
              <a:latin typeface="Tenorite"/>
              <a:cs typeface="Times New Roman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enorite"/>
                <a:cs typeface="Times New Roman"/>
              </a:rPr>
              <a:t> Provides better and speedy service to common man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enorite"/>
                <a:cs typeface="Times New Roman"/>
              </a:rPr>
              <a:t>.</a:t>
            </a:r>
            <a:endParaRPr lang="en-US" sz="2000" dirty="0">
              <a:latin typeface="Tenorite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101C6-4484-4310-BD39-CEB670DC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491" y="360806"/>
            <a:ext cx="1106905" cy="11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43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A2D15-4D68-4BF7-9421-032AE6C88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33" y="502150"/>
            <a:ext cx="4246786" cy="5099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cap="none"/>
              <a:t>Website and Login Process Fig</a:t>
            </a:r>
            <a:endParaRPr lang="en-US" sz="2000" cap="none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9F49366-6250-420C-9FC5-82BC644B0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251174"/>
            <a:ext cx="1106905" cy="11516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01778-D797-28F8-AAD5-481F31752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4C8E5A-87E0-82E8-F52C-C8F5EEC0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pic>
        <p:nvPicPr>
          <p:cNvPr id="3" name="Picture 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A8CF275-209B-04AC-3283-42A039F8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134414"/>
            <a:ext cx="4771622" cy="47716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564E6D-2ED6-0875-4330-9A99CB01F493}"/>
              </a:ext>
            </a:extLst>
          </p:cNvPr>
          <p:cNvSpPr txBox="1"/>
          <p:nvPr/>
        </p:nvSpPr>
        <p:spPr>
          <a:xfrm>
            <a:off x="1027627" y="3329725"/>
            <a:ext cx="4043428" cy="3672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i="1" dirty="0">
                <a:solidFill>
                  <a:srgbClr val="0000FF"/>
                </a:solidFill>
                <a:latin typeface="Tenorite"/>
                <a:cs typeface="Times New Roman"/>
                <a:hlinkClick r:id="rId4"/>
              </a:rPr>
              <a:t>https://goatransport</a:t>
            </a:r>
            <a:r>
              <a:rPr lang="en-US" b="1" i="1" dirty="0">
                <a:latin typeface="Tenorite"/>
                <a:cs typeface="Times New Roman"/>
              </a:rPr>
              <a:t>.gov.in/Default</a:t>
            </a:r>
            <a:endParaRPr lang="en-US" dirty="0"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926027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535781"/>
            <a:ext cx="349316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Advantages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E99AA-C201-2CCE-5E0A-BE198C5AE58D}"/>
              </a:ext>
            </a:extLst>
          </p:cNvPr>
          <p:cNvSpPr txBox="1"/>
          <p:nvPr/>
        </p:nvSpPr>
        <p:spPr>
          <a:xfrm>
            <a:off x="1162262" y="1859168"/>
            <a:ext cx="7039012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/>
              <a:buChar char="•"/>
            </a:pPr>
            <a:r>
              <a:rPr lang="en-US" sz="2000" dirty="0">
                <a:latin typeface="Tenorite"/>
                <a:cs typeface="Times New Roman"/>
              </a:rPr>
              <a:t>Issues driving license, and other certificates.</a:t>
            </a:r>
            <a:endParaRPr lang="en-US" sz="2000" dirty="0">
              <a:solidFill>
                <a:schemeClr val="tx1"/>
              </a:solidFill>
              <a:latin typeface="Tenorite"/>
              <a:cs typeface="Times New Roman"/>
            </a:endParaRP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/>
              <a:buChar char="•"/>
            </a:pPr>
            <a:r>
              <a:rPr lang="en-US" sz="2000" dirty="0">
                <a:latin typeface="Tenorite"/>
                <a:cs typeface="Times New Roman"/>
              </a:rPr>
              <a:t>Providing transport facilities to the public by granting permits.</a:t>
            </a:r>
            <a:endParaRPr lang="en-US" dirty="0">
              <a:latin typeface="Tenorite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1716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0637-CCAA-425E-A57A-6205AFDC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Disadvantage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44BFC9-2C26-F730-B6E3-1A1A5641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42449-B17D-9773-F86C-7FEF7FFF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17</a:t>
            </a:fld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8AAC370-E25E-420F-BE26-52BC246B6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68104E-EABA-3DDF-2DA2-C69A371F24A0}"/>
              </a:ext>
            </a:extLst>
          </p:cNvPr>
          <p:cNvSpPr txBox="1"/>
          <p:nvPr/>
        </p:nvSpPr>
        <p:spPr>
          <a:xfrm>
            <a:off x="1243104" y="2165079"/>
            <a:ext cx="7479040" cy="15081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/>
              <a:t>It doesn’t give remainder even if the certificate validity expired.</a:t>
            </a:r>
            <a:endParaRPr lang="en-US" sz="2000" dirty="0"/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Pollution certificate is not recorded.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Tracking of vehicles is not there. </a:t>
            </a:r>
          </a:p>
          <a:p>
            <a:pPr marL="285750" indent="-28575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/>
              <a:t>Have no platform to register online complaints</a:t>
            </a:r>
          </a:p>
        </p:txBody>
      </p:sp>
    </p:spTree>
    <p:extLst>
      <p:ext uri="{BB962C8B-B14F-4D97-AF65-F5344CB8AC3E}">
        <p14:creationId xmlns:p14="http://schemas.microsoft.com/office/powerpoint/2010/main" val="297972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CD4-732A-43E4-BCB9-CBA2055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87754"/>
            <a:ext cx="842168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D0450-A909-4CD9-8912-96A19ACEB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020" y="1821754"/>
            <a:ext cx="10727854" cy="4043628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14999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enorite"/>
                <a:cs typeface="Times New Roman"/>
              </a:rPr>
              <a:t>The purpose of preparing this document is to explain complete design details of our </a:t>
            </a:r>
            <a:r>
              <a:rPr lang="en-IN" b="1" dirty="0">
                <a:latin typeface="Tenorite"/>
                <a:cs typeface="Times New Roman"/>
              </a:rPr>
              <a:t>Digital Verification Of Vehicles</a:t>
            </a:r>
            <a:endParaRPr lang="en-IN" dirty="0">
              <a:latin typeface="Tenorite"/>
              <a:cs typeface="Times New Roman"/>
            </a:endParaRPr>
          </a:p>
          <a:p>
            <a:pPr marL="285750" indent="-285750" algn="just">
              <a:lnSpc>
                <a:spcPct val="114999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enorite"/>
                <a:cs typeface="Times New Roman"/>
              </a:rPr>
              <a:t>This detailed design report will mainly contain the general definition and features of the project, design constraints, the overall system architecture and data architecture. Additionally, a brief explanation about our current progress and schedule of the project will be provided in related sections. </a:t>
            </a:r>
            <a:endParaRPr lang="en-US" sz="2400" dirty="0">
              <a:latin typeface="Tenorite"/>
              <a:cs typeface="Times New Roman"/>
            </a:endParaRPr>
          </a:p>
          <a:p>
            <a:pPr marL="285750" indent="-285750" algn="just">
              <a:lnSpc>
                <a:spcPct val="114999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N" dirty="0">
                <a:latin typeface="Tenorite"/>
                <a:cs typeface="Times New Roman"/>
              </a:rPr>
              <a:t>Design of the system and subsystems/modules will be explained both verbally and visually by means of diagrams in order to help the programmer to understand all information stated in this document correctly and easily.</a:t>
            </a:r>
            <a:r>
              <a:rPr lang="en-US" sz="2400" dirty="0">
                <a:latin typeface="Tenorite"/>
                <a:cs typeface="Times New Roman"/>
              </a:rPr>
              <a:t> 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69B566E-86A6-F1C3-1E21-A327F00B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8FB6CA-0B7D-5BA7-294C-F8A04B2A9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dirty="0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C101C6-4484-4310-BD39-CEB670DC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122" y="399525"/>
            <a:ext cx="1106905" cy="11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94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554" y="302933"/>
            <a:ext cx="6692446" cy="834140"/>
          </a:xfrm>
        </p:spPr>
        <p:txBody>
          <a:bodyPr>
            <a:noAutofit/>
          </a:bodyPr>
          <a:lstStyle/>
          <a:p>
            <a:r>
              <a:rPr lang="en-US" sz="3600" dirty="0"/>
              <a:t>System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4074" y="1615280"/>
            <a:ext cx="8698139" cy="4241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FRONT END</a:t>
            </a:r>
          </a:p>
          <a:p>
            <a:pPr lvl="2"/>
            <a:r>
              <a:rPr lang="en-US" sz="3000" dirty="0">
                <a:solidFill>
                  <a:schemeClr val="tx1"/>
                </a:solidFill>
              </a:rPr>
              <a:t>Language : PHP</a:t>
            </a:r>
          </a:p>
          <a:p>
            <a:pPr lvl="2"/>
            <a:endParaRPr lang="en-US" sz="3000" dirty="0">
              <a:solidFill>
                <a:schemeClr val="tx1"/>
              </a:solidFill>
            </a:endParaRPr>
          </a:p>
          <a:p>
            <a:pPr marL="800100" lvl="1" indent="-342900">
              <a:buChar char="•"/>
            </a:pPr>
            <a:r>
              <a:rPr lang="en-US" sz="3200" b="1" dirty="0">
                <a:solidFill>
                  <a:schemeClr val="tx1"/>
                </a:solidFill>
              </a:rPr>
              <a:t>BACK END</a:t>
            </a:r>
          </a:p>
          <a:p>
            <a:pPr lvl="2"/>
            <a:r>
              <a:rPr lang="en-US" sz="3000">
                <a:solidFill>
                  <a:schemeClr val="tx1"/>
                </a:solidFill>
              </a:rPr>
              <a:t>MySQL</a:t>
            </a:r>
            <a:endParaRPr lang="en-US" sz="3000" dirty="0">
              <a:solidFill>
                <a:schemeClr val="tx1"/>
              </a:solidFill>
            </a:endParaRPr>
          </a:p>
          <a:p>
            <a:pPr lvl="2"/>
            <a:r>
              <a:rPr lang="en-US" sz="30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FCC619-077B-4EA3-87D8-343EFD4F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742E6-A58A-C722-4E7C-CD6E5EA9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3E6E59C-3ED0-AF46-E455-67236386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CSE, MBITS</a:t>
            </a:r>
          </a:p>
        </p:txBody>
      </p:sp>
    </p:spTree>
    <p:extLst>
      <p:ext uri="{BB962C8B-B14F-4D97-AF65-F5344CB8AC3E}">
        <p14:creationId xmlns:p14="http://schemas.microsoft.com/office/powerpoint/2010/main" val="2282513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3E86-2F20-7355-FF7D-3B388554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6A5CA-CB47-B3A4-C6BD-71817B7E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E5E21-5F28-F8BA-1DDB-10284DBFE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6DDA487-EE99-B673-CE40-2572B8B4D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803429"/>
              </p:ext>
            </p:extLst>
          </p:nvPr>
        </p:nvGraphicFramePr>
        <p:xfrm>
          <a:off x="2032000" y="1884232"/>
          <a:ext cx="8127999" cy="3017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38327859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771765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9672015"/>
                    </a:ext>
                  </a:extLst>
                </a:gridCol>
              </a:tblGrid>
              <a:tr h="5789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to be done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Done by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 when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131064"/>
                  </a:ext>
                </a:extLst>
              </a:tr>
              <a:tr h="5789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UI Design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Alan Sha &amp; Sojan P Renny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February to March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14984"/>
                  </a:ext>
                </a:extLst>
              </a:tr>
              <a:tr h="5789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Wireframing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enorite"/>
                        </a:rPr>
                        <a:t>Alan Sha &amp; Sojan P Renny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March to April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899779"/>
                  </a:ext>
                </a:extLst>
              </a:tr>
              <a:tr h="578960">
                <a:tc>
                  <a:txBody>
                    <a:bodyPr/>
                    <a:lstStyle/>
                    <a:p>
                      <a:pPr marL="0" algn="ctr" fontAlgn="t">
                        <a:spcBef>
                          <a:spcPts val="0"/>
                        </a:spcBef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enorite" panose="00000500000000000000" pitchFamily="2" charset="0"/>
                        </a:rPr>
                        <a:t>Front end, Back end </a:t>
                      </a:r>
                      <a:endParaRPr lang="en-IN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Aadhil Muhammed &amp; Helvin Paulose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April to May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38849"/>
                  </a:ext>
                </a:extLst>
              </a:tr>
              <a:tr h="5789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Connectivity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Tenorite"/>
                        </a:rPr>
                        <a:t>Aadhil Muhammed &amp; 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Helvin Paulose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May to June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485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672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1769-A41F-D33D-1ADC-9B938AB3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256" y="225604"/>
            <a:ext cx="7242220" cy="305987"/>
          </a:xfrm>
        </p:spPr>
        <p:txBody>
          <a:bodyPr>
            <a:normAutofit fontScale="90000"/>
          </a:bodyPr>
          <a:lstStyle/>
          <a:p>
            <a:r>
              <a:rPr lang="en-IN" dirty="0"/>
              <a:t>ER-diagram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3BBE8-B9C5-114D-A170-A1A4AA638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48E2D-91CE-6BCC-2E33-21F37AC2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1F0C4-B3BD-8C86-A1D6-7019FC509EAE}"/>
              </a:ext>
            </a:extLst>
          </p:cNvPr>
          <p:cNvSpPr txBox="1"/>
          <p:nvPr/>
        </p:nvSpPr>
        <p:spPr>
          <a:xfrm>
            <a:off x="3049361" y="2967335"/>
            <a:ext cx="6098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>
                <a:effectLst/>
              </a:rPr>
            </a:br>
            <a:br>
              <a:rPr lang="en-IN" dirty="0">
                <a:effectLst/>
              </a:rPr>
            </a:br>
            <a:endParaRPr lang="en-IN" dirty="0"/>
          </a:p>
        </p:txBody>
      </p:sp>
      <p:pic>
        <p:nvPicPr>
          <p:cNvPr id="3" name="Picture 5" descr="Diagram&#10;&#10;Description automatically generated">
            <a:extLst>
              <a:ext uri="{FF2B5EF4-FFF2-40B4-BE49-F238E27FC236}">
                <a16:creationId xmlns:a16="http://schemas.microsoft.com/office/drawing/2014/main" id="{3B884C53-3551-06C3-F062-617C91CF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83" y="642449"/>
            <a:ext cx="10395396" cy="615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75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" y="535781"/>
            <a:ext cx="451699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Database design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E99AA-C201-2CCE-5E0A-BE198C5AE58D}"/>
              </a:ext>
            </a:extLst>
          </p:cNvPr>
          <p:cNvSpPr txBox="1"/>
          <p:nvPr/>
        </p:nvSpPr>
        <p:spPr>
          <a:xfrm>
            <a:off x="1327241" y="1903290"/>
            <a:ext cx="6094562" cy="21082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Bef>
                <a:spcPts val="600"/>
              </a:spcBef>
              <a:buSzPts val="1200"/>
              <a:buFont typeface="Symbol,Sans-Serif" panose="020B0604020202020204" pitchFamily="34" charset="0"/>
              <a:buChar char=""/>
              <a:tabLst>
                <a:tab pos="472440" algn="l"/>
              </a:tabLst>
            </a:pP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branch</a:t>
            </a:r>
            <a:endParaRPr lang="en-IN" sz="200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marL="342900" indent="-342900">
              <a:spcBef>
                <a:spcPts val="600"/>
              </a:spcBef>
              <a:buSzPts val="1200"/>
              <a:buFont typeface="Symbol,Sans-Serif" panose="020B0604020202020204" pitchFamily="34" charset="0"/>
              <a:buChar char=""/>
              <a:tabLst>
                <a:tab pos="472440" algn="l"/>
              </a:tabLst>
            </a:pP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city</a:t>
            </a:r>
            <a:endParaRPr lang="en-IN" sz="200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marL="342900" indent="-342900">
              <a:spcBef>
                <a:spcPts val="600"/>
              </a:spcBef>
              <a:buSzPts val="1200"/>
              <a:buFont typeface="Symbol,Sans-Serif" panose="020B0604020202020204" pitchFamily="34" charset="0"/>
              <a:buChar char=""/>
              <a:tabLst>
                <a:tab pos="472440" algn="l"/>
              </a:tabLst>
            </a:pP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employee</a:t>
            </a:r>
            <a:endParaRPr lang="en-IN" sz="2000">
              <a:latin typeface="Times New Roman"/>
              <a:ea typeface="Times New Roman" panose="02020603050405020304" pitchFamily="18" charset="0"/>
              <a:cs typeface="Times New Roman"/>
            </a:endParaRPr>
          </a:p>
          <a:p>
            <a:pPr marL="342900" indent="-342900">
              <a:spcBef>
                <a:spcPts val="600"/>
              </a:spcBef>
              <a:buSzPts val="1200"/>
              <a:buFont typeface="Symbol,Sans-Serif" panose="020B0604020202020204" pitchFamily="34" charset="0"/>
              <a:buChar char=""/>
              <a:tabLst>
                <a:tab pos="472440" algn="l"/>
              </a:tabLst>
            </a:pPr>
            <a:r>
              <a:rPr lang="en-US" sz="2000" dirty="0">
                <a:latin typeface="Times New Roman"/>
                <a:ea typeface="Times New Roman" panose="02020603050405020304" pitchFamily="18" charset="0"/>
                <a:cs typeface="Times New Roman"/>
              </a:rPr>
              <a:t>Payment</a:t>
            </a:r>
            <a:r>
              <a:rPr lang="en-US" dirty="0">
                <a:latin typeface="Tenorite"/>
                <a:ea typeface="Times New Roman" panose="02020603050405020304" pitchFamily="18" charset="0"/>
                <a:cs typeface="Times New Roman"/>
              </a:rPr>
              <a:t> </a:t>
            </a: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51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829" y="140367"/>
            <a:ext cx="1806593" cy="332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Table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E1C54-DB00-93D5-0413-E606EA2F9F3D}"/>
              </a:ext>
            </a:extLst>
          </p:cNvPr>
          <p:cNvSpPr txBox="1"/>
          <p:nvPr/>
        </p:nvSpPr>
        <p:spPr>
          <a:xfrm>
            <a:off x="2316984" y="877550"/>
            <a:ext cx="97077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/>
              <a:t>Branch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BBDCB7-6EB9-64E0-5D0C-711F0D3D5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986946"/>
              </p:ext>
            </p:extLst>
          </p:nvPr>
        </p:nvGraphicFramePr>
        <p:xfrm>
          <a:off x="3543118" y="857106"/>
          <a:ext cx="522066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721">
                  <a:extLst>
                    <a:ext uri="{9D8B030D-6E8A-4147-A177-3AD203B41FA5}">
                      <a16:colId xmlns:a16="http://schemas.microsoft.com/office/drawing/2014/main" val="3870729126"/>
                    </a:ext>
                  </a:extLst>
                </a:gridCol>
                <a:gridCol w="976613">
                  <a:extLst>
                    <a:ext uri="{9D8B030D-6E8A-4147-A177-3AD203B41FA5}">
                      <a16:colId xmlns:a16="http://schemas.microsoft.com/office/drawing/2014/main" val="677014574"/>
                    </a:ext>
                  </a:extLst>
                </a:gridCol>
                <a:gridCol w="1109240">
                  <a:extLst>
                    <a:ext uri="{9D8B030D-6E8A-4147-A177-3AD203B41FA5}">
                      <a16:colId xmlns:a16="http://schemas.microsoft.com/office/drawing/2014/main" val="826378403"/>
                    </a:ext>
                  </a:extLst>
                </a:gridCol>
                <a:gridCol w="1712088">
                  <a:extLst>
                    <a:ext uri="{9D8B030D-6E8A-4147-A177-3AD203B41FA5}">
                      <a16:colId xmlns:a16="http://schemas.microsoft.com/office/drawing/2014/main" val="3697530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Column​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 Type​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Index​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Description​</a:t>
                      </a:r>
                      <a:endParaRPr lang="en-US" b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200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branchid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Primary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26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branchname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 name​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1477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branchaddress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 address​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56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420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pin​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PIN code​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986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state​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State 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94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 status​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64948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B73B26-7F02-6580-ABEB-6D8E38E74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92955"/>
              </p:ext>
            </p:extLst>
          </p:nvPr>
        </p:nvGraphicFramePr>
        <p:xfrm>
          <a:off x="3533352" y="3786080"/>
          <a:ext cx="526346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124">
                  <a:extLst>
                    <a:ext uri="{9D8B030D-6E8A-4147-A177-3AD203B41FA5}">
                      <a16:colId xmlns:a16="http://schemas.microsoft.com/office/drawing/2014/main" val="1147680159"/>
                    </a:ext>
                  </a:extLst>
                </a:gridCol>
                <a:gridCol w="1097183">
                  <a:extLst>
                    <a:ext uri="{9D8B030D-6E8A-4147-A177-3AD203B41FA5}">
                      <a16:colId xmlns:a16="http://schemas.microsoft.com/office/drawing/2014/main" val="2105108282"/>
                    </a:ext>
                  </a:extLst>
                </a:gridCol>
                <a:gridCol w="1121297">
                  <a:extLst>
                    <a:ext uri="{9D8B030D-6E8A-4147-A177-3AD203B41FA5}">
                      <a16:colId xmlns:a16="http://schemas.microsoft.com/office/drawing/2014/main" val="1102445757"/>
                    </a:ext>
                  </a:extLst>
                </a:gridCol>
                <a:gridCol w="1663860">
                  <a:extLst>
                    <a:ext uri="{9D8B030D-6E8A-4147-A177-3AD203B41FA5}">
                      <a16:colId xmlns:a16="http://schemas.microsoft.com/office/drawing/2014/main" val="1597027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Column​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 Type​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Index​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Description​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017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cityid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Primary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112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788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stateid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State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087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citycode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City Code​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764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discription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Discription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34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83210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3C49B71-EB2E-7B0A-1A75-9BAE582D8E0D}"/>
              </a:ext>
            </a:extLst>
          </p:cNvPr>
          <p:cNvSpPr txBox="1"/>
          <p:nvPr/>
        </p:nvSpPr>
        <p:spPr>
          <a:xfrm>
            <a:off x="1012784" y="3906455"/>
            <a:ext cx="880158" cy="349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C50A0-C051-4A0F-CF06-38F524FDCB4C}"/>
              </a:ext>
            </a:extLst>
          </p:cNvPr>
          <p:cNvSpPr txBox="1"/>
          <p:nvPr/>
        </p:nvSpPr>
        <p:spPr>
          <a:xfrm>
            <a:off x="2596704" y="3722994"/>
            <a:ext cx="6910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/>
              <a:t>City</a:t>
            </a:r>
          </a:p>
        </p:txBody>
      </p:sp>
    </p:spTree>
    <p:extLst>
      <p:ext uri="{BB962C8B-B14F-4D97-AF65-F5344CB8AC3E}">
        <p14:creationId xmlns:p14="http://schemas.microsoft.com/office/powerpoint/2010/main" val="2939667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829" y="140367"/>
            <a:ext cx="1806593" cy="332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Table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E1C54-DB00-93D5-0413-E606EA2F9F3D}"/>
              </a:ext>
            </a:extLst>
          </p:cNvPr>
          <p:cNvSpPr txBox="1"/>
          <p:nvPr/>
        </p:nvSpPr>
        <p:spPr>
          <a:xfrm>
            <a:off x="2017972" y="877550"/>
            <a:ext cx="126978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/>
              <a:t>Employee</a:t>
            </a:r>
            <a:endParaRPr lang="en-US" sz="20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49B71-EB2E-7B0A-1A75-9BAE582D8E0D}"/>
              </a:ext>
            </a:extLst>
          </p:cNvPr>
          <p:cNvSpPr txBox="1"/>
          <p:nvPr/>
        </p:nvSpPr>
        <p:spPr>
          <a:xfrm>
            <a:off x="1012784" y="3906455"/>
            <a:ext cx="880158" cy="349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C50A0-C051-4A0F-CF06-38F524FDCB4C}"/>
              </a:ext>
            </a:extLst>
          </p:cNvPr>
          <p:cNvSpPr txBox="1"/>
          <p:nvPr/>
        </p:nvSpPr>
        <p:spPr>
          <a:xfrm>
            <a:off x="2201237" y="3655475"/>
            <a:ext cx="108652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/>
              <a:t>Payment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B890741-F303-ACD6-7F25-2B6012A87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143841"/>
              </p:ext>
            </p:extLst>
          </p:nvPr>
        </p:nvGraphicFramePr>
        <p:xfrm>
          <a:off x="3513338" y="765279"/>
          <a:ext cx="53243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899598582"/>
                    </a:ext>
                  </a:extLst>
                </a:gridCol>
                <a:gridCol w="1229810">
                  <a:extLst>
                    <a:ext uri="{9D8B030D-6E8A-4147-A177-3AD203B41FA5}">
                      <a16:colId xmlns:a16="http://schemas.microsoft.com/office/drawing/2014/main" val="690523362"/>
                    </a:ext>
                  </a:extLst>
                </a:gridCol>
                <a:gridCol w="1109239">
                  <a:extLst>
                    <a:ext uri="{9D8B030D-6E8A-4147-A177-3AD203B41FA5}">
                      <a16:colId xmlns:a16="http://schemas.microsoft.com/office/drawing/2014/main" val="2811745198"/>
                    </a:ext>
                  </a:extLst>
                </a:gridCol>
                <a:gridCol w="1651803">
                  <a:extLst>
                    <a:ext uri="{9D8B030D-6E8A-4147-A177-3AD203B41FA5}">
                      <a16:colId xmlns:a16="http://schemas.microsoft.com/office/drawing/2014/main" val="1136177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Column​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 Type​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Index​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Description​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24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Empid​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Primary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Emp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130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Emptype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Emp Type​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Branched​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Branch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07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Empname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Emp Name​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0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Loginid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Login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735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Password​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Password​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353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13108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D9D0845-D7CB-37B3-4DDB-5E564BBE1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223546"/>
              </p:ext>
            </p:extLst>
          </p:nvPr>
        </p:nvGraphicFramePr>
        <p:xfrm>
          <a:off x="3474756" y="3687887"/>
          <a:ext cx="54157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48">
                  <a:extLst>
                    <a:ext uri="{9D8B030D-6E8A-4147-A177-3AD203B41FA5}">
                      <a16:colId xmlns:a16="http://schemas.microsoft.com/office/drawing/2014/main" val="3893811806"/>
                    </a:ext>
                  </a:extLst>
                </a:gridCol>
                <a:gridCol w="1241865">
                  <a:extLst>
                    <a:ext uri="{9D8B030D-6E8A-4147-A177-3AD203B41FA5}">
                      <a16:colId xmlns:a16="http://schemas.microsoft.com/office/drawing/2014/main" val="1951793714"/>
                    </a:ext>
                  </a:extLst>
                </a:gridCol>
                <a:gridCol w="1181581">
                  <a:extLst>
                    <a:ext uri="{9D8B030D-6E8A-4147-A177-3AD203B41FA5}">
                      <a16:colId xmlns:a16="http://schemas.microsoft.com/office/drawing/2014/main" val="3561374706"/>
                    </a:ext>
                  </a:extLst>
                </a:gridCol>
                <a:gridCol w="1639746">
                  <a:extLst>
                    <a:ext uri="{9D8B030D-6E8A-4147-A177-3AD203B41FA5}">
                      <a16:colId xmlns:a16="http://schemas.microsoft.com/office/drawing/2014/main" val="39212746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Column​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Data Type​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Index​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Description​</a:t>
                      </a:r>
                      <a:endParaRPr lang="en-US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776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Paymentid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Primary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Payment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08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Paymenttype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Payment Type​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30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Paidfor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varchar(20)​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Paid For​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514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Paidamt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float(10,2)​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Paid Amt​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958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 err="1">
                          <a:effectLst/>
                        </a:rPr>
                        <a:t>Paiddate</a:t>
                      </a:r>
                      <a:r>
                        <a:rPr lang="en-US" sz="12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Paid 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05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Description​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Description​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372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200" dirty="0">
                          <a:effectLst/>
                        </a:rPr>
                        <a:t>Status​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77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62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762301-F83A-4BEA-9D11-E6C99FB5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829" y="140367"/>
            <a:ext cx="1806593" cy="33207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/>
              <a:t>Table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DD3C4-406D-4DAF-B979-B8FE0D02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5AF4D-B283-E1C1-1052-57357CD3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A558DF-655B-199E-476B-FD31C868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1388"/>
            <a:ext cx="4114800" cy="365125"/>
          </a:xfrm>
        </p:spPr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EE1C54-DB00-93D5-0413-E606EA2F9F3D}"/>
              </a:ext>
            </a:extLst>
          </p:cNvPr>
          <p:cNvSpPr txBox="1"/>
          <p:nvPr/>
        </p:nvSpPr>
        <p:spPr>
          <a:xfrm>
            <a:off x="1381364" y="511018"/>
            <a:ext cx="126978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b="1" dirty="0"/>
              <a:t>Employee</a:t>
            </a:r>
            <a:endParaRPr lang="en-US" sz="20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49B71-EB2E-7B0A-1A75-9BAE582D8E0D}"/>
              </a:ext>
            </a:extLst>
          </p:cNvPr>
          <p:cNvSpPr txBox="1"/>
          <p:nvPr/>
        </p:nvSpPr>
        <p:spPr>
          <a:xfrm>
            <a:off x="1012784" y="3906455"/>
            <a:ext cx="880158" cy="3496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ABB2F7-BF09-B798-030B-8416157C7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80273"/>
              </p:ext>
            </p:extLst>
          </p:nvPr>
        </p:nvGraphicFramePr>
        <p:xfrm>
          <a:off x="2653074" y="548073"/>
          <a:ext cx="6574070" cy="595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805">
                  <a:extLst>
                    <a:ext uri="{9D8B030D-6E8A-4147-A177-3AD203B41FA5}">
                      <a16:colId xmlns:a16="http://schemas.microsoft.com/office/drawing/2014/main" val="2523080986"/>
                    </a:ext>
                  </a:extLst>
                </a:gridCol>
                <a:gridCol w="1311720">
                  <a:extLst>
                    <a:ext uri="{9D8B030D-6E8A-4147-A177-3AD203B41FA5}">
                      <a16:colId xmlns:a16="http://schemas.microsoft.com/office/drawing/2014/main" val="937793037"/>
                    </a:ext>
                  </a:extLst>
                </a:gridCol>
                <a:gridCol w="1311720">
                  <a:extLst>
                    <a:ext uri="{9D8B030D-6E8A-4147-A177-3AD203B41FA5}">
                      <a16:colId xmlns:a16="http://schemas.microsoft.com/office/drawing/2014/main" val="1438247199"/>
                    </a:ext>
                  </a:extLst>
                </a:gridCol>
                <a:gridCol w="2239825">
                  <a:extLst>
                    <a:ext uri="{9D8B030D-6E8A-4147-A177-3AD203B41FA5}">
                      <a16:colId xmlns:a16="http://schemas.microsoft.com/office/drawing/2014/main" val="1076269964"/>
                    </a:ext>
                  </a:extLst>
                </a:gridCol>
              </a:tblGrid>
              <a:tr h="258315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dirty="0">
                          <a:effectLst/>
                        </a:rPr>
                        <a:t>Column​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Data Type​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Index​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Description​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876629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Drivinglicenseid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Primary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Driving License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343474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Dltype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DL Type​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984012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Stated​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State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917929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Cityid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City 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481679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Vehicletypeid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int(10)​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Foreign key​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VehicleType</a:t>
                      </a:r>
                      <a:r>
                        <a:rPr lang="en-US" sz="1100" dirty="0">
                          <a:effectLst/>
                        </a:rPr>
                        <a:t> ID​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0614589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Photo​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varchar(100)​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Photo​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430110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Name​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Name​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635511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Swdof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SWD of​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722668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Paddr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PAddress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862154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Taddr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TAddress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04337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Paddrduration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PAddr</a:t>
                      </a:r>
                      <a:r>
                        <a:rPr lang="en-US" sz="1100" dirty="0">
                          <a:effectLst/>
                        </a:rPr>
                        <a:t> Duration​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498503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Dob​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DOB​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723902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Qualification​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Qualification​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036121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Identificationmarks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Identification Marks​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183853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Bloodgroup​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Blood Group​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757405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Previousdl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varchar(50)​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Previous DL​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56196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Startdate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Start 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45706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Enddate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End 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730329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Entrydate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Entry Date​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68357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 err="1">
                          <a:effectLst/>
                        </a:rPr>
                        <a:t>Dlno</a:t>
                      </a:r>
                      <a:r>
                        <a:rPr lang="en-US" sz="1100" dirty="0">
                          <a:effectLst/>
                        </a:rPr>
                        <a:t>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varchar(25)​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DL No​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65783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Note​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text​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Note​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20010"/>
                  </a:ext>
                </a:extLst>
              </a:tr>
              <a:tr h="258315"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Status​</a:t>
                      </a:r>
                      <a:endParaRPr lang="en-US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varchar(10)​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Not null​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100" dirty="0">
                          <a:effectLst/>
                        </a:rPr>
                        <a:t>Status​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568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8163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Conclusion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4FD76E0-9BDB-A1FA-AD8A-9965B94C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FFFDC-4D81-FFEF-7B51-BBDF3DE8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24308" y="2023482"/>
            <a:ext cx="9425635" cy="30622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The following subsections provide complete overview of the Documentation for the product “Digital Verification Of Vehicles”.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The document, we first define the overall product. Then, we give the external interface requirements, followed by a brief description of the product components and features. 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enorite"/>
                <a:cs typeface="Times New Roman"/>
              </a:rPr>
              <a:t>In the last section, we have provided the non-functional requirements of the product. This Time we are presenting the Product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6D48D-EC34-470E-8CDD-55F0253A4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REFERENCES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4FD76E0-9BDB-A1FA-AD8A-9965B94C2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FFFDC-4D81-FFEF-7B51-BBDF3DE88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124308" y="2023482"/>
            <a:ext cx="9425635" cy="17504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latin typeface="Times New Roman"/>
                <a:cs typeface="Times New Roman"/>
              </a:rPr>
              <a:t>  </a:t>
            </a:r>
            <a:r>
              <a:rPr lang="en-US" sz="1800" b="1" u="sng" dirty="0">
                <a:latin typeface="Times New Roman"/>
                <a:cs typeface="Times New Roman"/>
              </a:rPr>
              <a:t>Books:</a:t>
            </a:r>
            <a:endParaRPr lang="en-IN" sz="1800" dirty="0">
              <a:latin typeface="Times New Roman"/>
              <a:cs typeface="Times New Roman"/>
            </a:endParaRPr>
          </a:p>
          <a:p>
            <a:pPr marL="1200150" lvl="2" indent="-285750">
              <a:lnSpc>
                <a:spcPct val="107000"/>
              </a:lnSpc>
              <a:spcBef>
                <a:spcPts val="1000"/>
              </a:spcBef>
            </a:pPr>
            <a:r>
              <a:rPr lang="en-US" sz="1800">
                <a:latin typeface="Times New Roman"/>
                <a:cs typeface="Times New Roman"/>
              </a:rPr>
              <a:t>Software engineering by Pankaj</a:t>
            </a:r>
            <a:r>
              <a:rPr lang="en-US" sz="1800" dirty="0">
                <a:latin typeface="Times New Roman"/>
                <a:cs typeface="Times New Roman"/>
              </a:rPr>
              <a:t> </a:t>
            </a:r>
            <a:r>
              <a:rPr lang="en-US" sz="1800" err="1">
                <a:latin typeface="Times New Roman"/>
                <a:cs typeface="Times New Roman"/>
              </a:rPr>
              <a:t>Jalote</a:t>
            </a:r>
            <a:r>
              <a:rPr lang="en-US" sz="1800">
                <a:latin typeface="Times New Roman"/>
                <a:cs typeface="Times New Roman"/>
              </a:rPr>
              <a:t>.</a:t>
            </a:r>
            <a:endParaRPr lang="en-IN" sz="1800">
              <a:latin typeface="Times New Roman"/>
              <a:cs typeface="Times New Roman"/>
            </a:endParaRPr>
          </a:p>
          <a:p>
            <a:pPr marL="1200150" lvl="2" indent="-285750">
              <a:lnSpc>
                <a:spcPct val="100000"/>
              </a:lnSpc>
              <a:spcBef>
                <a:spcPts val="1000"/>
              </a:spcBef>
            </a:pPr>
            <a:r>
              <a:rPr lang="en-IN" sz="1800" dirty="0">
                <a:latin typeface="Times New Roman"/>
                <a:cs typeface="Times New Roman"/>
              </a:rPr>
              <a:t>Learning PHP, MySQL, JavaScript and CSS: A Step-by-Step Guide to Creating Dynamic </a:t>
            </a:r>
            <a:r>
              <a:rPr lang="en-IN" sz="1800">
                <a:latin typeface="Times New Roman"/>
                <a:cs typeface="Times New Roman"/>
              </a:rPr>
              <a:t>Websites by Robin Nixon</a:t>
            </a:r>
            <a:r>
              <a:rPr lang="en-IN" sz="2400">
                <a:latin typeface="Times New Roman"/>
                <a:cs typeface="Times New Roman"/>
              </a:rPr>
              <a:t>.</a:t>
            </a:r>
            <a:endParaRPr lang="en-IN" sz="1800" dirty="0">
              <a:latin typeface="Times New Roman"/>
              <a:cs typeface="Times New Roman"/>
            </a:endParaRPr>
          </a:p>
          <a:p>
            <a:pPr marL="0" indent="0">
              <a:spcBef>
                <a:spcPts val="1000"/>
              </a:spcBef>
              <a:buNone/>
            </a:pPr>
            <a:endParaRPr lang="en-US" sz="2000" dirty="0">
              <a:latin typeface="Tenorite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6D48D-EC34-470E-8CDD-55F0253A4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599FE6-9BE1-2793-6704-8620902AFC71}"/>
              </a:ext>
            </a:extLst>
          </p:cNvPr>
          <p:cNvSpPr txBox="1"/>
          <p:nvPr/>
        </p:nvSpPr>
        <p:spPr>
          <a:xfrm>
            <a:off x="246132" y="4256107"/>
            <a:ext cx="6616792" cy="119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2">
              <a:spcBef>
                <a:spcPts val="1000"/>
              </a:spcBef>
            </a:pPr>
            <a:r>
              <a:rPr lang="en-US" b="1" u="sng">
                <a:latin typeface="Times New Roman"/>
                <a:cs typeface="Times New Roman"/>
              </a:rPr>
              <a:t>Website:</a:t>
            </a:r>
            <a:endParaRPr lang="en-IN" u="sng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200150" lvl="2" indent="-285750">
              <a:spcBef>
                <a:spcPts val="1000"/>
              </a:spcBef>
              <a:buFont typeface="Arial"/>
              <a:buChar char="•"/>
            </a:pPr>
            <a:r>
              <a:rPr lang="en-US" dirty="0">
                <a:solidFill>
                  <a:srgbClr val="0563C1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www.w3schools.com </a:t>
            </a:r>
            <a:endParaRPr lang="en-IN" dirty="0">
              <a:latin typeface="Times New Roman"/>
              <a:cs typeface="Times New Roman"/>
            </a:endParaRPr>
          </a:p>
          <a:p>
            <a:pPr marL="1200150" lvl="2" indent="-285750" algn="l">
              <a:lnSpc>
                <a:spcPct val="114999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>
                <a:solidFill>
                  <a:srgbClr val="0563C1"/>
                </a:solidFill>
                <a:latin typeface="Times New Roman"/>
                <a:cs typeface="Times New Roman"/>
                <a:hlinkClick r:id="rId4"/>
              </a:rPr>
              <a:t>www.tutorialspoint.com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97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2101" y="2556005"/>
            <a:ext cx="2923880" cy="6703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A033B9-5A54-46F4-AE64-01BE93F00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3" y="302933"/>
            <a:ext cx="1106905" cy="1151693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8F6EBA-C8C3-D9B7-3E04-07609318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A02C49C-89FB-A389-C117-FF4EFCF7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CSE, MBITS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Presentation_tm67328976_Win32_LW_SL_v3" id="{B5A5B451-F186-4F05-917D-430247B33515}" vid="{C0610F80-F57F-4E6B-A096-3AEBDD5FC5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96B61E-1B64-430F-934F-7D1B9002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D6FE22-81A0-4500-AFD0-342D21BB9A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C43685-694E-4579-B109-3C418D49DA65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16c05727-aa75-4e4a-9b5f-8a80a1165891"/>
    <ds:schemaRef ds:uri="http://purl.org/dc/elements/1.1/"/>
    <ds:schemaRef ds:uri="230e9df3-be65-4c73-a93b-d1236ebd677e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715</TotalTime>
  <Words>1750</Words>
  <Application>Microsoft Office PowerPoint</Application>
  <PresentationFormat>Widescreen</PresentationFormat>
  <Paragraphs>408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Symbol,Sans-Serif</vt:lpstr>
      <vt:lpstr>Tenorite</vt:lpstr>
      <vt:lpstr>Times New Roman</vt:lpstr>
      <vt:lpstr>Trebuchet MS</vt:lpstr>
      <vt:lpstr>Wingdings</vt:lpstr>
      <vt:lpstr>Office Theme</vt:lpstr>
      <vt:lpstr>DIGITAL VERIFICATION OF VEHICLES</vt:lpstr>
      <vt:lpstr>CONTENTS</vt:lpstr>
      <vt:lpstr>PowerPoint Presentation</vt:lpstr>
      <vt:lpstr>INtroduction</vt:lpstr>
      <vt:lpstr>CASE STUDY I –                                 Two wheeler registration process in Kerala</vt:lpstr>
      <vt:lpstr> https://www.mvd.kerala.gov. in</vt:lpstr>
      <vt:lpstr>Website Login Figure</vt:lpstr>
      <vt:lpstr>Advantages  </vt:lpstr>
      <vt:lpstr>Disadvantages  </vt:lpstr>
      <vt:lpstr>CASE STUDY II–                                 Transport system of Karnataka</vt:lpstr>
      <vt:lpstr>Figure Of Login Process</vt:lpstr>
      <vt:lpstr>Advantages  </vt:lpstr>
      <vt:lpstr>Disadvantage</vt:lpstr>
      <vt:lpstr>CASE STUDY IIi–                                 Department of Transport, Goa</vt:lpstr>
      <vt:lpstr>Website and Login Process Fig</vt:lpstr>
      <vt:lpstr>Advantages  </vt:lpstr>
      <vt:lpstr>Disadvantage</vt:lpstr>
      <vt:lpstr>Proposed system</vt:lpstr>
      <vt:lpstr>System Requirements</vt:lpstr>
      <vt:lpstr>Work plan</vt:lpstr>
      <vt:lpstr>ER-diagram</vt:lpstr>
      <vt:lpstr>Database design  </vt:lpstr>
      <vt:lpstr>Table  </vt:lpstr>
      <vt:lpstr>Table  </vt:lpstr>
      <vt:lpstr>Table  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CLERK FOR STORE MANAGEMENT</dc:title>
  <dc:creator>sanjana sunil</dc:creator>
  <cp:lastModifiedBy>Alan Sha</cp:lastModifiedBy>
  <cp:revision>446</cp:revision>
  <dcterms:created xsi:type="dcterms:W3CDTF">2023-03-07T16:27:34Z</dcterms:created>
  <dcterms:modified xsi:type="dcterms:W3CDTF">2023-08-07T16:27:05Z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